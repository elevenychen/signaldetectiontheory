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Play"/>
      <p:regular r:id="rId22"/>
      <p:bold r:id="rId23"/>
    </p:embeddedFont>
    <p:embeddedFont>
      <p:font typeface="Barlow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aBL9YoYkHVUsBfH5fi/ttcAAH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64D385-0D44-413A-9BC7-180BD6A2EC4F}">
  <a:tblStyle styleId="{F264D385-0D44-413A-9BC7-180BD6A2EC4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-regular.fntdata"/><Relationship Id="rId21" Type="http://schemas.openxmlformats.org/officeDocument/2006/relationships/slide" Target="slides/slide16.xml"/><Relationship Id="rId24" Type="http://schemas.openxmlformats.org/officeDocument/2006/relationships/font" Target="fonts/Barlow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-italic.fntdata"/><Relationship Id="rId25" Type="http://schemas.openxmlformats.org/officeDocument/2006/relationships/font" Target="fonts/Barlow-bold.fntdata"/><Relationship Id="rId28" Type="http://customschemas.google.com/relationships/presentationmetadata" Target="metadata"/><Relationship Id="rId27" Type="http://schemas.openxmlformats.org/officeDocument/2006/relationships/font" Target="fonts/Barlow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e1c7086f11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e1c7086f11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1c7086f11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e1c7086f11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Blackstone's ratio — "better that ten guilty persons escape than that one innocent suffer"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1c7086f11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1c7086f11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 goal is not to say that identity is irrelevant. The goal is to ask whether the partisan preference gap is actually coming from different perceived facts, different error trade-offs, or something else entirely.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1c7086f11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1c7086f11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1c7086f11_1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1c7086f11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1c7086f11_1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1c7086f11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1c7086f11_1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1c7086f11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1c7086f11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1c7086f11_1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</a:rPr>
              <a:t>Per-theme ROC curves showing D and R operating points + slope-1 tangents</a:t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i="1" lang="en-US" sz="1800">
                <a:solidFill>
                  <a:schemeClr val="dk1"/>
                </a:solidFill>
              </a:rPr>
              <a:t>The decomposition reveals hidden agreement, but experiencing it doesn’t transfer.</a:t>
            </a:r>
            <a:endParaRPr/>
          </a:p>
        </p:txBody>
      </p:sp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" type="body"/>
          </p:nvPr>
        </p:nvSpPr>
        <p:spPr>
          <a:xfrm>
            <a:off x="838200" y="1825625"/>
            <a:ext cx="10515600" cy="4219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" name="Google Shape;27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" name="Google Shape;29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5" name="Google Shape;35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219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/>
          <p:nvPr/>
        </p:nvSpPr>
        <p:spPr>
          <a:xfrm>
            <a:off x="-114300" y="22225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9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137044"/>
            <a:ext cx="12192000" cy="11434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6825" y="-266500"/>
            <a:ext cx="12308825" cy="768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/>
        </p:nvSpPr>
        <p:spPr>
          <a:xfrm>
            <a:off x="1682798" y="1104589"/>
            <a:ext cx="92493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5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Shooting Friends and Missing Enemies</a:t>
            </a:r>
            <a:endParaRPr sz="1100"/>
          </a:p>
        </p:txBody>
      </p:sp>
      <p:sp>
        <p:nvSpPr>
          <p:cNvPr id="46" name="Google Shape;46;p1"/>
          <p:cNvSpPr txBox="1"/>
          <p:nvPr/>
        </p:nvSpPr>
        <p:spPr>
          <a:xfrm>
            <a:off x="3417986" y="3399225"/>
            <a:ext cx="5239200" cy="1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Eleveny (Shiyi) Chen, UC Davis</a:t>
            </a:r>
            <a:endParaRPr sz="2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2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Harry Yan, Texas A&amp;M University</a:t>
            </a:r>
            <a:endParaRPr sz="2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2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Daniel (D.J.) Flynn, IE University Madrid</a:t>
            </a:r>
            <a:endParaRPr sz="2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2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Seth Frey, UC Davis</a:t>
            </a:r>
            <a:endParaRPr sz="2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2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AAPOR 2026</a:t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1982657" y="1904300"/>
            <a:ext cx="8509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Decomposing Polarized Policy Preferences as Signal Detection Problems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1c7086f11_1_8"/>
          <p:cNvSpPr txBox="1"/>
          <p:nvPr>
            <p:ph idx="1" type="body"/>
          </p:nvPr>
        </p:nvSpPr>
        <p:spPr>
          <a:xfrm>
            <a:off x="774700" y="1533525"/>
            <a:ext cx="10515600" cy="421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Americans appear deeply divided on policy.</a:t>
            </a:r>
            <a:endParaRPr b="1" sz="2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Yet when policies are stripped of partisan labels, many command broad support. </a:t>
            </a:r>
            <a:r>
              <a:rPr i="1" lang="en-US" sz="2200"/>
              <a:t>(Fiorina et al., 2005; Mason, 2018)</a:t>
            </a:r>
            <a:endParaRPr i="1"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200"/>
              <a:t>Is the measured depth of disagreement partly a measurement artifact?</a:t>
            </a:r>
            <a:endParaRPr b="1" sz="2200"/>
          </a:p>
        </p:txBody>
      </p:sp>
      <p:sp>
        <p:nvSpPr>
          <p:cNvPr id="53" name="Google Shape;53;g3e1c7086f11_1_8"/>
          <p:cNvSpPr txBox="1"/>
          <p:nvPr>
            <p:ph type="title"/>
          </p:nvPr>
        </p:nvSpPr>
        <p:spPr>
          <a:xfrm>
            <a:off x="657625" y="2078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The Puzzle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1c7086f11_1_13"/>
          <p:cNvSpPr txBox="1"/>
          <p:nvPr>
            <p:ph idx="1" type="body"/>
          </p:nvPr>
        </p:nvSpPr>
        <p:spPr>
          <a:xfrm>
            <a:off x="657625" y="1533525"/>
            <a:ext cx="10515600" cy="245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200"/>
              <a:t>Every policy that distinguishes cases is a classifier. Every classifier makes two kinds of errors.</a:t>
            </a:r>
            <a:endParaRPr b="1" sz="2200"/>
          </a:p>
        </p:txBody>
      </p:sp>
      <p:sp>
        <p:nvSpPr>
          <p:cNvPr id="59" name="Google Shape;59;g3e1c7086f11_1_13"/>
          <p:cNvSpPr txBox="1"/>
          <p:nvPr>
            <p:ph type="title"/>
          </p:nvPr>
        </p:nvSpPr>
        <p:spPr>
          <a:xfrm>
            <a:off x="657625" y="2078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Policy as Classification</a:t>
            </a:r>
            <a:endParaRPr sz="4000"/>
          </a:p>
        </p:txBody>
      </p:sp>
      <p:graphicFrame>
        <p:nvGraphicFramePr>
          <p:cNvPr id="60" name="Google Shape;60;g3e1c7086f11_1_13"/>
          <p:cNvGraphicFramePr/>
          <p:nvPr/>
        </p:nvGraphicFramePr>
        <p:xfrm>
          <a:off x="4570075" y="214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{F264D385-0D44-413A-9BC7-180BD6A2EC4F}</a:tableStyleId>
              </a:tblPr>
              <a:tblGrid>
                <a:gridCol w="1357200"/>
                <a:gridCol w="2751350"/>
                <a:gridCol w="2494600"/>
              </a:tblGrid>
              <a:tr h="471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Domain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False Positive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False Negative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Criminal Justice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Convicting the innocent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Acquitting the guilty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Immigration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Denying an admissible applicant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Admitting an inadmissible applicant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Voting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Blocking an eligible voter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Allowing an ineligible ballot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" name="Google Shape;61;g3e1c7086f11_1_13"/>
          <p:cNvSpPr txBox="1"/>
          <p:nvPr/>
        </p:nvSpPr>
        <p:spPr>
          <a:xfrm>
            <a:off x="774700" y="5561675"/>
            <a:ext cx="963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chemeClr val="dk1"/>
                </a:solidFill>
              </a:rPr>
              <a:t>"Shooting friends and missing enemies."</a:t>
            </a:r>
            <a:endParaRPr i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1c7086f11_1_30"/>
          <p:cNvSpPr txBox="1"/>
          <p:nvPr>
            <p:ph idx="1" type="body"/>
          </p:nvPr>
        </p:nvSpPr>
        <p:spPr>
          <a:xfrm>
            <a:off x="838200" y="1767700"/>
            <a:ext cx="10515600" cy="421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/>
              <a:t>SDT separates two parameters: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/>
              <a:t>Sensitivity (d′):</a:t>
            </a:r>
            <a:r>
              <a:rPr lang="en-US" sz="2100"/>
              <a:t> How well the system separates signal from noise 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/>
              <a:t>Criterion (c):</a:t>
            </a:r>
            <a:r>
              <a:rPr lang="en-US" sz="2100"/>
              <a:t> Where you set the threshold — which error is worse?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/>
              <a:t>A policy preference conflates at least three inputs (Bullock &amp; Lenz, 2019; Zaller, 1992): 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AutoNum type="arabicPeriod"/>
            </a:pPr>
            <a:r>
              <a:rPr b="1" lang="en-US" sz="2100"/>
              <a:t>Base-rate beliefs</a:t>
            </a:r>
            <a:r>
              <a:rPr lang="en-US" sz="2100"/>
              <a:t> — "How common is the problem?" 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en-US" sz="2100"/>
              <a:t>Error thresholds</a:t>
            </a:r>
            <a:r>
              <a:rPr lang="en-US" sz="2100"/>
              <a:t> — "Which mistakes are acceptable?" 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b="1" lang="en-US" sz="2100"/>
              <a:t>Identity signaling</a:t>
            </a:r>
            <a:r>
              <a:rPr lang="en-US" sz="2100"/>
              <a:t> — Partisan team expression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2100"/>
              <a:t>SDT separates #1 and #2. Whatever remains is #3.</a:t>
            </a:r>
            <a:endParaRPr b="1" sz="2100"/>
          </a:p>
        </p:txBody>
      </p:sp>
      <p:sp>
        <p:nvSpPr>
          <p:cNvPr id="67" name="Google Shape;67;g3e1c7086f11_1_30"/>
          <p:cNvSpPr txBox="1"/>
          <p:nvPr>
            <p:ph type="title"/>
          </p:nvPr>
        </p:nvSpPr>
        <p:spPr>
          <a:xfrm>
            <a:off x="657625" y="2078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Signal Detection Theory (SDT)</a:t>
            </a:r>
            <a:endParaRPr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1c7086f11_1_24"/>
          <p:cNvSpPr txBox="1"/>
          <p:nvPr>
            <p:ph idx="1" type="body"/>
          </p:nvPr>
        </p:nvSpPr>
        <p:spPr>
          <a:xfrm>
            <a:off x="838200" y="1533525"/>
            <a:ext cx="10515600" cy="421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N = 649</a:t>
            </a:r>
            <a:r>
              <a:rPr lang="en-US" sz="2200"/>
              <a:t> attentive U.S. adults (Prolific)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9 domains</a:t>
            </a:r>
            <a:r>
              <a:rPr lang="en-US" sz="2200"/>
              <a:t> — 7 political (immigration, criminal justice, voting, firearms, welfare, airport security, armed conflict) + 2 neutral controls (disease testing, autonomous driving) </a:t>
            </a:r>
            <a:endParaRPr sz="2200"/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7 of 9</a:t>
            </a:r>
            <a:r>
              <a:rPr lang="en-US" sz="2200"/>
              <a:t> randomly assigned per participant</a:t>
            </a:r>
            <a:endParaRPr sz="2200"/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Three question types per domain: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B</a:t>
            </a:r>
            <a:r>
              <a:rPr lang="en-US" sz="2200"/>
              <a:t> — Base-rate beliefs → d′, c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T</a:t>
            </a:r>
            <a:r>
              <a:rPr lang="en-US" sz="2200"/>
              <a:t> — Error threshold → log₁₀(FP:FN)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200"/>
              <a:t>P</a:t>
            </a:r>
            <a:r>
              <a:rPr lang="en-US" sz="2200"/>
              <a:t> — Standard policy preference (ANES-style)</a:t>
            </a:r>
            <a:endParaRPr sz="2200"/>
          </a:p>
        </p:txBody>
      </p:sp>
      <p:sp>
        <p:nvSpPr>
          <p:cNvPr id="73" name="Google Shape;73;g3e1c7086f11_1_24"/>
          <p:cNvSpPr txBox="1"/>
          <p:nvPr>
            <p:ph type="title"/>
          </p:nvPr>
        </p:nvSpPr>
        <p:spPr>
          <a:xfrm>
            <a:off x="657625" y="2078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Study Design Overview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1c7086f11_1_38"/>
          <p:cNvSpPr txBox="1"/>
          <p:nvPr>
            <p:ph idx="1" type="body"/>
          </p:nvPr>
        </p:nvSpPr>
        <p:spPr>
          <a:xfrm>
            <a:off x="838200" y="1767700"/>
            <a:ext cx="10515600" cy="421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Criminal Justice (False Positive):</a:t>
            </a:r>
            <a:r>
              <a:rPr lang="en-US" sz="2200"/>
              <a:t> "Imagine 1,000 defendants who are </a:t>
            </a:r>
            <a:r>
              <a:rPr b="1" lang="en-US" sz="2200"/>
              <a:t>innocent</a:t>
            </a:r>
            <a:r>
              <a:rPr lang="en-US" sz="2200"/>
              <a:t>. How many are </a:t>
            </a:r>
            <a:r>
              <a:rPr b="1" lang="en-US" sz="2200"/>
              <a:t>incorrectly convicted</a:t>
            </a:r>
            <a:r>
              <a:rPr lang="en-US" sz="2200"/>
              <a:t>?" [Participant enters: 0–1,000]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Immigration (False Negative):</a:t>
            </a:r>
            <a:r>
              <a:rPr lang="en-US" sz="2200"/>
              <a:t> "Imagine 1,000 people who are </a:t>
            </a:r>
            <a:r>
              <a:rPr b="1" lang="en-US" sz="2200"/>
              <a:t>inadmissible</a:t>
            </a:r>
            <a:r>
              <a:rPr lang="en-US" sz="2200"/>
              <a:t> applicants. How many are </a:t>
            </a:r>
            <a:r>
              <a:rPr b="1" lang="en-US" sz="2200"/>
              <a:t>incorrectly admitted</a:t>
            </a:r>
            <a:r>
              <a:rPr lang="en-US" sz="2200"/>
              <a:t>?" [Participant enters: 0–1,000]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From these answers → FPR, TPR → </a:t>
            </a:r>
            <a:r>
              <a:rPr b="1" lang="en-US" sz="2200"/>
              <a:t>d′</a:t>
            </a:r>
            <a:r>
              <a:rPr lang="en-US" sz="2200"/>
              <a:t> (sensitivity) and </a:t>
            </a:r>
            <a:r>
              <a:rPr b="1" lang="en-US" sz="2200"/>
              <a:t>c</a:t>
            </a:r>
            <a:r>
              <a:rPr lang="en-US" sz="2200"/>
              <a:t> (criterion)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/>
              <a:t>Each participant gets 3 of 4 question types (FP, TN, FN, TP) per domain — enables both consistency checks and SDT computation.</a:t>
            </a:r>
            <a:endParaRPr sz="2200"/>
          </a:p>
        </p:txBody>
      </p:sp>
      <p:sp>
        <p:nvSpPr>
          <p:cNvPr id="79" name="Google Shape;79;g3e1c7086f11_1_38"/>
          <p:cNvSpPr txBox="1"/>
          <p:nvPr>
            <p:ph type="title"/>
          </p:nvPr>
        </p:nvSpPr>
        <p:spPr>
          <a:xfrm>
            <a:off x="657625" y="2078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"What do you believe is happening?"</a:t>
            </a:r>
            <a:endParaRPr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1c7086f11_1_49"/>
          <p:cNvSpPr txBox="1"/>
          <p:nvPr>
            <p:ph idx="1" type="body"/>
          </p:nvPr>
        </p:nvSpPr>
        <p:spPr>
          <a:xfrm>
            <a:off x="838200" y="2001875"/>
            <a:ext cx="10515600" cy="421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Stage 1: Binary choice</a:t>
            </a:r>
            <a:r>
              <a:rPr lang="en-US" sz="2200"/>
              <a:t> "Which error is more acceptable to you? — A </a:t>
            </a:r>
            <a:r>
              <a:rPr b="1" lang="en-US" sz="2200"/>
              <a:t>guilty</a:t>
            </a:r>
            <a:r>
              <a:rPr lang="en-US" sz="2200"/>
              <a:t> person is </a:t>
            </a:r>
            <a:r>
              <a:rPr b="1" lang="en-US" sz="2200"/>
              <a:t>incorrectly acquitted</a:t>
            </a:r>
            <a:r>
              <a:rPr lang="en-US" sz="2200"/>
              <a:t> — An </a:t>
            </a:r>
            <a:r>
              <a:rPr b="1" lang="en-US" sz="2200"/>
              <a:t>innocent</a:t>
            </a:r>
            <a:r>
              <a:rPr lang="en-US" sz="2200"/>
              <a:t> person is </a:t>
            </a:r>
            <a:r>
              <a:rPr b="1" lang="en-US" sz="2200"/>
              <a:t>incorrectly convicted</a:t>
            </a:r>
            <a:r>
              <a:rPr lang="en-US" sz="2200"/>
              <a:t>"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Stage 2: Ratio slider</a:t>
            </a:r>
            <a:r>
              <a:rPr lang="en-US" sz="2200"/>
              <a:t> </a:t>
            </a:r>
            <a:r>
              <a:rPr i="1" lang="en-US" sz="2200"/>
              <a:t>If "guilty acquitted" chosen:</a:t>
            </a:r>
            <a:r>
              <a:rPr lang="en-US" sz="2200"/>
              <a:t> "It is acceptable for </a:t>
            </a:r>
            <a:r>
              <a:rPr b="1" lang="en-US" sz="2200"/>
              <a:t>___ guilty person(s) to be incorrectly acquitted</a:t>
            </a:r>
            <a:r>
              <a:rPr lang="en-US" sz="2200"/>
              <a:t> so that </a:t>
            </a:r>
            <a:r>
              <a:rPr b="1" lang="en-US" sz="2200"/>
              <a:t>1 innocent person is not incorrectly convicted</a:t>
            </a:r>
            <a:r>
              <a:rPr lang="en-US" sz="2200"/>
              <a:t>." [Slider: 1 · 10 · 100 · 1,000 · 10,000 · 100,000 · 1,000,000]</a:t>
            </a: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/>
              <a:t>Direction (which error is worse) + magnitude (how much worse) → </a:t>
            </a:r>
            <a:r>
              <a:rPr b="1" lang="en-US" sz="2200"/>
              <a:t>log₁₀(FP:FN)</a:t>
            </a:r>
            <a:r>
              <a:rPr lang="en-US" sz="2200"/>
              <a:t> ratio — this is the threshold measure.</a:t>
            </a:r>
            <a:endParaRPr sz="2200"/>
          </a:p>
        </p:txBody>
      </p:sp>
      <p:sp>
        <p:nvSpPr>
          <p:cNvPr id="85" name="Google Shape;85;g3e1c7086f11_1_49"/>
          <p:cNvSpPr txBox="1"/>
          <p:nvPr>
            <p:ph type="title"/>
          </p:nvPr>
        </p:nvSpPr>
        <p:spPr>
          <a:xfrm>
            <a:off x="574000" y="3249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"Which error is more acceptable, and by how much?"</a:t>
            </a:r>
            <a:endParaRPr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1c7086f11_1_57"/>
          <p:cNvSpPr txBox="1"/>
          <p:nvPr>
            <p:ph idx="1" type="body"/>
          </p:nvPr>
        </p:nvSpPr>
        <p:spPr>
          <a:xfrm>
            <a:off x="838200" y="1421775"/>
            <a:ext cx="10515600" cy="444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B</a:t>
            </a:r>
            <a:r>
              <a:rPr lang="en-US" sz="2200"/>
              <a:t> — Base-rate beliefs → d′, c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T</a:t>
            </a:r>
            <a:r>
              <a:rPr lang="en-US" sz="2200"/>
              <a:t> — Error threshold → log₁₀(FP:FN)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P</a:t>
            </a:r>
            <a:r>
              <a:rPr lang="en-US" sz="2200"/>
              <a:t> — Standard policy preference (ANES-style)</a:t>
            </a:r>
            <a:endParaRPr sz="2200"/>
          </a:p>
          <a:p>
            <a:pPr indent="45720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P block always first or last — never between B and T</a:t>
            </a:r>
            <a:endParaRPr sz="2200"/>
          </a:p>
          <a:p>
            <a:pPr indent="45720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H2 test:</a:t>
            </a:r>
            <a:r>
              <a:rPr lang="en-US" sz="2200"/>
              <a:t> B before T → does base-rate priming increase threshold polarization? </a:t>
            </a:r>
            <a:r>
              <a:rPr b="1" lang="en-US" sz="2200"/>
              <a:t>H4 test:</a:t>
            </a:r>
            <a:r>
              <a:rPr lang="en-US" sz="2200"/>
              <a:t> T before P → does threshold articulation reduce preference polarization?</a:t>
            </a:r>
            <a:endParaRPr sz="22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/>
              <a:t>Controls:</a:t>
            </a:r>
            <a:r>
              <a:rPr lang="en-US" sz="2200"/>
              <a:t> Age, education, income, sex, ideology </a:t>
            </a:r>
            <a:r>
              <a:rPr b="1" lang="en-US" sz="2200"/>
              <a:t>Models:</a:t>
            </a:r>
            <a:r>
              <a:rPr lang="en-US" sz="2200"/>
              <a:t> Mixed-effects with (1|respondent), within-theme z-scoring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</p:txBody>
      </p:sp>
      <p:sp>
        <p:nvSpPr>
          <p:cNvPr id="91" name="Google Shape;91;g3e1c7086f11_1_57"/>
          <p:cNvSpPr txBox="1"/>
          <p:nvPr>
            <p:ph type="title"/>
          </p:nvPr>
        </p:nvSpPr>
        <p:spPr>
          <a:xfrm>
            <a:off x="574000" y="1911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"How the experimental manipulation works"</a:t>
            </a:r>
            <a:endParaRPr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1c7086f11_1_74"/>
          <p:cNvSpPr txBox="1"/>
          <p:nvPr>
            <p:ph type="title"/>
          </p:nvPr>
        </p:nvSpPr>
        <p:spPr>
          <a:xfrm>
            <a:off x="533400" y="187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/>
              <a:t>Hypothesis Summary</a:t>
            </a:r>
            <a:endParaRPr sz="4000"/>
          </a:p>
        </p:txBody>
      </p:sp>
      <p:sp>
        <p:nvSpPr>
          <p:cNvPr id="97" name="Google Shape;97;g3e1c7086f11_1_74"/>
          <p:cNvSpPr txBox="1"/>
          <p:nvPr>
            <p:ph idx="1" type="body"/>
          </p:nvPr>
        </p:nvSpPr>
        <p:spPr>
          <a:xfrm>
            <a:off x="533400" y="1513025"/>
            <a:ext cx="10515600" cy="4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US" sz="2200"/>
              <a:t>H1A: Base-rate beliefs predict preferences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Beta = -0.19, p &lt; .001 ← SUPPORTED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US" sz="2200"/>
              <a:t>H1B: Error thresholds predict preferences (above d’/c)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Beta = 0.04, p = .010 ← SUPPORTED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US" sz="2200"/>
              <a:t>H3: Preferences more polarized than thresholds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Beta(Rep x is_preference) = 0.55, p &lt; .0001 ← SUPPORTED (headline finding)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US" sz="2200"/>
              <a:t>H2: Base-rate priming increases threshold polarization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Beta = 0.02, p = .783 ← Not supported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US" sz="2200"/>
              <a:t>H4: Threshold articulation reduces preference polarization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Beta = -0.10, p = .145 ← Not supported (pilot effect did not replicate)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>
            <p:ph type="title"/>
          </p:nvPr>
        </p:nvSpPr>
        <p:spPr>
          <a:xfrm>
            <a:off x="596900" y="201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/>
              <a:t>Where Partisan Differences Are: d’ and c by Domain</a:t>
            </a:r>
            <a:endParaRPr sz="4000"/>
          </a:p>
        </p:txBody>
      </p:sp>
      <p:pic>
        <p:nvPicPr>
          <p:cNvPr id="103" name="Google Shape;10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172" y="2401150"/>
            <a:ext cx="12200172" cy="4520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 txBox="1"/>
          <p:nvPr/>
        </p:nvSpPr>
        <p:spPr>
          <a:xfrm>
            <a:off x="4900950" y="892750"/>
            <a:ext cx="86292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d′:</a:t>
            </a:r>
            <a:r>
              <a:rPr lang="en-US" sz="2000">
                <a:solidFill>
                  <a:schemeClr val="dk1"/>
                </a:solidFill>
              </a:rPr>
              <a:t> Only voting shows a significant party difference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c:</a:t>
            </a:r>
            <a:r>
              <a:rPr lang="en-US" sz="2000">
                <a:solidFill>
                  <a:schemeClr val="dk1"/>
                </a:solidFill>
              </a:rPr>
              <a:t> 5 of 9 domains significant, but direction varies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2000">
                <a:solidFill>
                  <a:schemeClr val="dk1"/>
                </a:solidFill>
              </a:rPr>
              <a:t>The mechanism of partisan divergence differs across domains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type="title"/>
          </p:nvPr>
        </p:nvSpPr>
        <p:spPr>
          <a:xfrm>
            <a:off x="469900" y="-88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/>
              <a:t>Per-Theme SDT Differences: Not One Story</a:t>
            </a:r>
            <a:endParaRPr sz="4000"/>
          </a:p>
        </p:txBody>
      </p:sp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719850" y="891475"/>
            <a:ext cx="10515600" cy="4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   </a:t>
            </a:r>
            <a:r>
              <a:rPr b="1" lang="en-US" sz="2000"/>
              <a:t>Domain              Delta-d’ (R-D)   p(d’)     Delta-c (R-D)   p(c)</a:t>
            </a:r>
            <a:endParaRPr sz="2000"/>
          </a:p>
          <a:p>
            <a:pPr indent="-2730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Disease Testing        0.00             .695       -0.01*       .034</a:t>
            </a:r>
            <a:endParaRPr sz="2000"/>
          </a:p>
          <a:p>
            <a:pPr indent="-2730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Armed Conflict        +0.17             .507       -0.02        .578</a:t>
            </a:r>
            <a:endParaRPr sz="2000"/>
          </a:p>
          <a:p>
            <a:pPr indent="-2730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Criminal Justice      +0.21             .209        0.00        .245</a:t>
            </a:r>
            <a:endParaRPr sz="2000"/>
          </a:p>
          <a:p>
            <a:pPr indent="-2730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Welfare                    0.00              .612       +0.06**      .007</a:t>
            </a:r>
            <a:endParaRPr sz="2000"/>
          </a:p>
          <a:p>
            <a:pPr indent="-2730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Immigration           +0.04              .650       +0.05**      .001</a:t>
            </a:r>
            <a:endParaRPr sz="2000"/>
          </a:p>
          <a:p>
            <a:pPr indent="-2730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Voter ID                -0.88**            .001       +0.24***    &lt;.001</a:t>
            </a:r>
            <a:endParaRPr sz="2000"/>
          </a:p>
          <a:p>
            <a:pPr indent="-2730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Airport Security        -0.25            .578        0.00        .287</a:t>
            </a:r>
            <a:endParaRPr sz="2000"/>
          </a:p>
          <a:p>
            <a:pPr indent="-2730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Firearms                 -0.24             .979       -0.25***    &lt;.001</a:t>
            </a:r>
            <a:endParaRPr sz="2000"/>
          </a:p>
          <a:p>
            <a:pPr indent="-2730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Auto Driving             -0.37             .293        0.00        .818</a:t>
            </a:r>
            <a:endParaRPr sz="20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000"/>
              <a:t>Voting: </a:t>
            </a:r>
            <a:r>
              <a:rPr lang="en-US" sz="2000"/>
              <a:t>sensitivity + criterion. </a:t>
            </a:r>
            <a:r>
              <a:rPr b="1" lang="en-US" sz="2000"/>
              <a:t>Immigration:</a:t>
            </a:r>
            <a:r>
              <a:rPr lang="en-US" sz="2000"/>
              <a:t> criterion only. </a:t>
            </a:r>
            <a:r>
              <a:rPr b="1" lang="en-US" sz="2000"/>
              <a:t>Firearms</a:t>
            </a:r>
            <a:r>
              <a:rPr lang="en-US" sz="2000"/>
              <a:t>: criterion, opposite direction. </a:t>
            </a:r>
            <a:r>
              <a:rPr i="1" lang="en-US" sz="2000"/>
              <a:t>Different mechanisms, same label.</a:t>
            </a:r>
            <a:endParaRPr i="1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/>
          <p:nvPr>
            <p:ph type="title"/>
          </p:nvPr>
        </p:nvSpPr>
        <p:spPr>
          <a:xfrm>
            <a:off x="304800" y="174625"/>
            <a:ext cx="11236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/>
              <a:t>Immigration &amp; Voting: Uniquely Divergent Domains</a:t>
            </a:r>
            <a:endParaRPr sz="4000"/>
          </a:p>
        </p:txBody>
      </p:sp>
      <p:sp>
        <p:nvSpPr>
          <p:cNvPr id="116" name="Google Shape;116;p9"/>
          <p:cNvSpPr txBox="1"/>
          <p:nvPr>
            <p:ph idx="1" type="body"/>
          </p:nvPr>
        </p:nvSpPr>
        <p:spPr>
          <a:xfrm>
            <a:off x="8064600" y="1839813"/>
            <a:ext cx="4127400" cy="4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Only two domains where base-rate and threshold criteria </a:t>
            </a:r>
            <a:r>
              <a:rPr b="1" lang="en-US" sz="2000"/>
              <a:t>cross over</a:t>
            </a:r>
            <a:r>
              <a:rPr lang="en-US" sz="2000"/>
              <a:t> between parties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Consistent with genuinely divergent information environments — not just different values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i="1" lang="en-US" sz="2000"/>
              <a:t>The two most politically contested domains right now</a:t>
            </a:r>
            <a:endParaRPr sz="2000"/>
          </a:p>
        </p:txBody>
      </p:sp>
      <p:pic>
        <p:nvPicPr>
          <p:cNvPr id="117" name="Google Shape;117;p9"/>
          <p:cNvPicPr preferRelativeResize="0"/>
          <p:nvPr/>
        </p:nvPicPr>
        <p:blipFill rotWithShape="1">
          <a:blip r:embed="rId3">
            <a:alphaModFix/>
          </a:blip>
          <a:srcRect b="35161" l="34334" r="33127" t="35394"/>
          <a:stretch/>
        </p:blipFill>
        <p:spPr>
          <a:xfrm>
            <a:off x="125449" y="1873950"/>
            <a:ext cx="4011326" cy="393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9"/>
          <p:cNvPicPr preferRelativeResize="0"/>
          <p:nvPr/>
        </p:nvPicPr>
        <p:blipFill rotWithShape="1">
          <a:blip r:embed="rId3">
            <a:alphaModFix/>
          </a:blip>
          <a:srcRect b="34815" l="68593" r="-819" t="34815"/>
          <a:stretch/>
        </p:blipFill>
        <p:spPr>
          <a:xfrm>
            <a:off x="4047863" y="1839825"/>
            <a:ext cx="3918475" cy="400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type="title"/>
          </p:nvPr>
        </p:nvSpPr>
        <p:spPr>
          <a:xfrm>
            <a:off x="457200" y="1492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/>
              <a:t>Criterion Positioning: Base-Rate vs. Threshold</a:t>
            </a:r>
            <a:endParaRPr sz="4000"/>
          </a:p>
        </p:txBody>
      </p:sp>
      <p:sp>
        <p:nvSpPr>
          <p:cNvPr id="124" name="Google Shape;124;p10"/>
          <p:cNvSpPr txBox="1"/>
          <p:nvPr>
            <p:ph idx="1" type="body"/>
          </p:nvPr>
        </p:nvSpPr>
        <p:spPr>
          <a:xfrm>
            <a:off x="7284100" y="1851950"/>
            <a:ext cx="4762500" cy="4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General pattern:</a:t>
            </a:r>
            <a:r>
              <a:rPr lang="en-US" sz="2000"/>
              <a:t> Explicit error reasoning pushes criteria liberal (away from 1:1 tangent), </a:t>
            </a:r>
            <a:r>
              <a:rPr lang="en-US" sz="2000"/>
              <a:t>tolerating more false positives with fewer misses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Base-rate criteria sit closer to the "rational" 1:1 point 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Threshold criteria sit systematically to the liberal side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Exceptions = immigration and voting</a:t>
            </a:r>
            <a:r>
              <a:rPr lang="en-US" sz="2000"/>
              <a:t> — parties pushed in opposite directions</a:t>
            </a:r>
            <a:endParaRPr b="1" sz="2000"/>
          </a:p>
        </p:txBody>
      </p:sp>
      <p:pic>
        <p:nvPicPr>
          <p:cNvPr id="125" name="Google Shape;125;p10" title="Screenshot 2026-05-13 at 13.40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50" y="1408000"/>
            <a:ext cx="7134346" cy="544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type="title"/>
          </p:nvPr>
        </p:nvSpPr>
        <p:spPr>
          <a:xfrm>
            <a:off x="457200" y="85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/>
              <a:t>The Intervention Null: H4 Visualized</a:t>
            </a:r>
            <a:endParaRPr sz="4000"/>
          </a:p>
        </p:txBody>
      </p:sp>
      <p:sp>
        <p:nvSpPr>
          <p:cNvPr id="131" name="Google Shape;131;p11"/>
          <p:cNvSpPr txBox="1"/>
          <p:nvPr>
            <p:ph idx="1" type="body"/>
          </p:nvPr>
        </p:nvSpPr>
        <p:spPr>
          <a:xfrm>
            <a:off x="381900" y="1173150"/>
            <a:ext cx="11460600" cy="4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D–R gap: 0.61 (preference first) vs 0.59 (thresholds first)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β = −0.121, p = .095 — directionally right, not significant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i="1" lang="en-US" sz="2000"/>
              <a:t>The decomposition reveals hidden agreement. Experiencing it does not transfer to preferences.</a:t>
            </a:r>
            <a:endParaRPr sz="2000"/>
          </a:p>
        </p:txBody>
      </p:sp>
      <p:pic>
        <p:nvPicPr>
          <p:cNvPr id="132" name="Google Shape;13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775" y="2297600"/>
            <a:ext cx="10228449" cy="442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/>
          <p:nvPr>
            <p:ph type="title"/>
          </p:nvPr>
        </p:nvSpPr>
        <p:spPr>
          <a:xfrm>
            <a:off x="596900" y="212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/>
              <a:t>Pooled ROC: Convergence Is Predicted, Not a Null</a:t>
            </a:r>
            <a:endParaRPr sz="4000"/>
          </a:p>
        </p:txBody>
      </p:sp>
      <p:sp>
        <p:nvSpPr>
          <p:cNvPr id="138" name="Google Shape;138;p12"/>
          <p:cNvSpPr txBox="1"/>
          <p:nvPr>
            <p:ph idx="1" type="body"/>
          </p:nvPr>
        </p:nvSpPr>
        <p:spPr>
          <a:xfrm>
            <a:off x="838200" y="1482725"/>
            <a:ext cx="10515600" cy="4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Pooled d′: D = 2.12, R = 1.92 (p = .81) Pooled c: D = 0.00, R = 0.04 (p = .047)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domain-specific differences vary in direction, pooling washes them out.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i="1" lang="en-US" sz="2000"/>
              <a:t>The convergence is a predicted consequence of domain-specific heterogeneity.</a:t>
            </a:r>
            <a:endParaRPr sz="2000"/>
          </a:p>
        </p:txBody>
      </p:sp>
      <p:pic>
        <p:nvPicPr>
          <p:cNvPr id="139" name="Google Shape;13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12" y="2696650"/>
            <a:ext cx="11961974" cy="372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>
            <p:ph type="title"/>
          </p:nvPr>
        </p:nvSpPr>
        <p:spPr>
          <a:xfrm>
            <a:off x="762000" y="1444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000"/>
              <a:t>Implications</a:t>
            </a:r>
            <a:endParaRPr sz="4000"/>
          </a:p>
        </p:txBody>
      </p:sp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660400" y="1470025"/>
            <a:ext cx="10515600" cy="4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•"/>
            </a:pPr>
            <a:r>
              <a:rPr b="1" lang="en-US" sz="2200"/>
              <a:t>Measurement:</a:t>
            </a:r>
            <a:r>
              <a:rPr lang="en-US" sz="2200"/>
              <a:t> Preference surveys measure a compound variable. The threshold gap is 0.55 SD smaller.</a:t>
            </a:r>
            <a:endParaRPr sz="2200"/>
          </a:p>
          <a:p>
            <a:pPr indent="-2540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US" sz="2200"/>
              <a:t>Theory:</a:t>
            </a:r>
            <a:r>
              <a:rPr lang="en-US" sz="2200"/>
              <a:t> "Polarization" is not monolithic. Different domains, different mechanisms, different intervention targets.</a:t>
            </a:r>
            <a:endParaRPr sz="2200"/>
          </a:p>
          <a:p>
            <a:pPr indent="-2540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US" sz="2200"/>
              <a:t>Methodology:</a:t>
            </a:r>
            <a:r>
              <a:rPr lang="en-US" sz="2200"/>
              <a:t> SDT generates its own diagnostics — below-diagonal points, logical consistency, criterion patterns.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2540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•"/>
            </a:pPr>
            <a:r>
              <a:rPr i="1" lang="en-US" sz="2200"/>
              <a:t>The apparent unity of polarization may itself be a measurement artifact.</a:t>
            </a:r>
            <a:endParaRPr b="1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2026-04-07T19:03:33Z</dcterms:created>
  <dc:creator>Betty Whitaker</dc:creator>
</cp:coreProperties>
</file>