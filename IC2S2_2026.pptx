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87EFB1-B494-4161-9B43-576D56DC5157}">
  <a:tblStyle styleId="{9187EFB1-B494-4161-9B43-576D56DC515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 everyone, I'm Eleveny Chen from UC Davis.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we say Americans are polarized on policy, what exactly are they disagreeing about? The facts? Their values? Or are they just wearing team jerseys? Today I want to show you a way to take policy disagreement apart into pieces — and tell you what we found when we did.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Here's the puzzle we started from. By every standard poll, Americans look deeply divided. But there's a long-standing wrinkle in that picture: when you describe the same policies without party labels, a lot of them get broad support from both sides.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standard poll question — "do you support policy X?" — packs everything into one number: what you believe is happening in the world, which mistakes you're willing to accept, and which party you're on. So our question is the one on the screen: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how much of the division we measure is produced by the measuring stick itself?</a:t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.....Our approach starts from one simple observation: every policy that has to sort people makes two kinds of mistakes.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court can convict an innocent person — or let a guilty one walk free. An immigration system can turn away someone who qualifies — or admit someone who doesn't. Voting rules can block an eligible voter — or count a ballot that shouldn't count. The first kind of mistakes are called Type 1 error, the second ones are called type 2.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here's the key: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you cannot get rid of both.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Tighten the rules, and one mistake shrinks while the other grows. So every policy position — whether the person knows it or not — is a choice about which mistake they'd rather live with. That's our title: shooting friends, and missing enemies.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Let me make that concrete with an airport scanner.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Every bag that goes through produces a suspicion score. Harmless bags — the gray curve — mostly score low. Real threats — the dark curve — mostly score high. But the curves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overlap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Some harmless bags look suspicious; some threats look ordinary. That overlap is why mistakes are unavoidable.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dashed line is the alarm threshold. Everything to the right gets flagged. Slide the line right and you get fewer false alarms — but more threats slip through. Slide it left and you catch everything — but you're pulling grandma aside for her shampoo.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 the scanner has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two separate dials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Dial one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skill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how far apart those two curves are — how well it separates threats from harmless bags. Dial two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judgment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where you put the line. And notice — dial two isn't a technical question. It's a question about which mistake is worse. Two machines can be equally good and still be set completely differently.</a:t>
            </a:r>
            <a:endParaRPr/>
          </a:p>
        </p:txBody>
      </p:sp>
      <p:sp>
        <p:nvSpPr>
          <p:cNvPr id="40" name="Google Shape;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If you take one scanner — one fixed skill level — and slide the alarm line all the way from strict to lenient, you trace out this curve. Every point on it is a different mix of the two mistakes. Strict setting: bottom left — few false alarms, lots of misses. Lenient: top right — you catch nearly everything, at the cost of many false alarms.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Better skill lifts the whole curve — fewer of both mistakes. But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where you sit on the curve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is pure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people have been stating positions on this curve for centuries. "Better that ten guilty escape than one innocent suffer" — that's Blackstone, 1769, choosing a point on this curve. He just didn't draw it.</a:t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One more piece before the study. How many convictions are actually wrongful? How many admitted applicants shouldn't have been?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Nobody knows those numbers.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Not the government, not us.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People act on their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beliefs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about them. And beliefs can differ by party. So — this matters for everything that follows —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 are not measuring ground truth. We are measuring perceptions of ground truth.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those perceptions are one distinct place partisans can divide, separate from their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Just one example from our data: the median Democrat believes 230 out of 1,000 qualified immigration applicants get wrongly turned away. The median Republican believes 160. Same system — different pictures of it.</a:t>
            </a:r>
            <a:endParaRPr/>
          </a:p>
        </p:txBody>
      </p:sp>
      <p:sp>
        <p:nvSpPr>
          <p:cNvPr id="60" name="Google Shape;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 here's the study. 649 attentive U.S. adults, recruited on Prolific. Nine policy topics — six political ones like immigration, voter ID, and firearms, plus three comparison topics like disease testing and self-driving cars, where we'd expect less partisan heat.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For every topic, three kinds of questions.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One: what do you believe is happening?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"Of 1,000 innocent defendants, how many get wrongly convicted?" From answers like these we recover both dials people believe the system has — its perceived skill, and its perceived setting.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Two: which mistake is worse — and by how much?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"It's acceptable for how many guilty people to go free so that one innocent person is not convicted?" That's their preferred trade-off. Their own Blackstone ratio.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Three: the standard survey question.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Ordinary agree–disagree items — the kind every poll uses. The compound measure.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we randomized the order, so we can test whether going through the exercise changes people's answers.</a:t>
            </a:r>
            <a:endParaRPr/>
          </a:p>
        </p:txBody>
      </p:sp>
      <p:sp>
        <p:nvSpPr>
          <p:cNvPr id="71" name="Google Shape;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First finding — really a sanity check. Do these separated ingredients actually matter?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Yes, both. People who believe error rates are higher hold measurably different policy positions. And people's stated trade-offs predict their positions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on top of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their beliefs — each ingredient carries its own weight.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 policy preferences are not team jerseys all the way down. There are real cognitive ingredients inside them, and they can be measured separately.</a:t>
            </a:r>
            <a:endParaRPr/>
          </a:p>
        </p:txBody>
      </p:sp>
      <p:sp>
        <p:nvSpPr>
          <p:cNvPr id="84" name="Google Shape;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Now the headline. Same people. Same topics. Same week.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Ask the standard survey question, and the parties sit far apart — the left panel. Ask instead "which mistake is worse, and by how much?" — and the parties move much closer together. The right panel.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Measured precisely: the partisan gap on trade-off questions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0.55 standard deviations smaller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than the gap on standard questions. That's not a rounding error. More than half a standard deviation of what we call polarization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does not survive a change in question format.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Part of the divide, it turns out, lives in the instrument.</a:t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— natural next thought: if people articulate their trade-offs first, do they then answer the standard questions less politically? Does the exercise de-polarize them?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No. We randomized the order precisely to test this. The partisan gap is 0.61 with the standard order, 0.59 with trade-offs first. Not a significant difference. A promising effect from our pilot did not replicate.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So the hidden agreement is real — but experiencing it once doesn't transfer. The standard question seems to summon its own way of answering — the symbolic, team-flavored one. Which is a finding about the question, not a failed treatment.</a:t>
            </a:r>
            <a:endParaRPr/>
          </a:p>
        </p:txBody>
      </p:sp>
      <p:sp>
        <p:nvSpPr>
          <p:cNvPr id="103" name="Google Shape;1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here's where the decomposition really pays off. "Polarization" is not one thing.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This chart shows, topic by topic, how the parties' preferred trade-offs differ. Look at three cases.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Voter ID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the biggest divide in the study, and it's in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dials: the parties disagree about how well the system can even tell eligible from ineligible,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about where the bar should sit.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Immigration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the parties' trade-offs barely differ. What differs is their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beliefs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about what's happening. That's a facts fight, not a values fight.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Firearms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the opposite: beliefs align, values split. And notice the direction — it's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Democrats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who set the stricter bar. The stereotype flips.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Same word — polarization — three different disagreements. And averaging across topics hides all of it: pooled together, the parties look nearly identical, exactly because these differences point in opposite directions.</a:t>
            </a:r>
            <a:endParaRPr/>
          </a:p>
        </p:txBody>
      </p:sp>
      <p:sp>
        <p:nvSpPr>
          <p:cNvPr id="111" name="Google Shape;1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One more thing this framework unlocks — where we're going next.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belief questions tell us where people think the system currently operates. The trade-off questions tell us where they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want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it to operate. The gap between the two is each side's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implied reform demand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direction and size.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That opens questions like: are there topics where the parties actually want reform in the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same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direction — hidden agreement not just about trade-offs, but about change itself? And on which topics do the two sides disagree about where the status quo even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? [gesture to figure] This is what that looks like across our nine topics.</a:t>
            </a:r>
            <a:endParaRPr/>
          </a:p>
        </p:txBody>
      </p:sp>
      <p:sp>
        <p:nvSpPr>
          <p:cNvPr id="120" name="Google Shape;1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So, three takeaways for three audiences.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you run surveys: the standard policy item is a compound — beliefs, values, and identity in one number. Report it that way, or unbundle it. The trade-off format is one working unbundling tool.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you work on depolarization: target the right ingredient per topic. Immigration divides on beliefs — facts might help there. Firearms divides on values — facts won't. One-size-fits-all interventions aim at an average that describes no actual topic.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And if you build decision systems: ordinary people can state error trade-offs in plain language. That's the interface algorithmic policy needs — thresholds humans can state, and machines can implement.</a:t>
            </a:r>
            <a:endParaRPr/>
          </a:p>
        </p:txBody>
      </p:sp>
      <p:sp>
        <p:nvSpPr>
          <p:cNvPr id="128" name="Google Shape;1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I'll leave you with one sentence: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 apparent unity of polarization may itself be a measurement artifact.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Different topics, different disagreements, different fixes.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Thank you — I'm happy to take questions.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073db1e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073db1e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6073db1e5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073db1e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6073db1e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6073db1e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073db1e5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6073db1e5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6073db1e5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073db1e5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6073db1e5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6073db1e5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554480"/>
            <a:ext cx="1051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Shooting Friends and Missing Enemies</a:t>
            </a:r>
            <a:endParaRPr i="0" sz="4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0" y="260604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i="1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What Americans actually disagree about when they disagree about policy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0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Eleveny (Shiyi) Chen, UC Davis   ·   Harry Yan, Texas A&amp;M   ·   Daniel (D.J.) Flynn, IE University Madrid   ·   Seth Frey, UC Davis</a:t>
            </a:r>
            <a:endParaRPr i="0" sz="1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B8C4D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IC2S2</a:t>
            </a:r>
            <a:r>
              <a:rPr i="0" lang="en-US" sz="1500" u="none" cap="none" strike="noStrike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 · </a:t>
            </a:r>
            <a:r>
              <a:rPr lang="en-US" sz="1500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Vermont</a:t>
            </a:r>
            <a:endParaRPr i="0" sz="1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3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 Puzzle</a:t>
            </a:r>
            <a:endParaRPr i="0" sz="3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Americans look deeply divided on policy.</a:t>
            </a:r>
            <a:endParaRPr i="0" sz="23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210312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800"/>
              <a:buFont typeface="Calibri"/>
              <a:buNone/>
            </a:pPr>
            <a:r>
              <a:rPr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Yet when the same policies are described without party labels, many command broad support (Fiorina et al. 2005; Mason 2018).</a:t>
            </a:r>
            <a:endParaRPr i="0" sz="1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463040" y="3383280"/>
            <a:ext cx="9235440" cy="2011680"/>
          </a:xfrm>
          <a:prstGeom prst="roundRect">
            <a:avLst>
              <a:gd fmla="val 5455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737360" y="3611880"/>
            <a:ext cx="8686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800"/>
              <a:buFont typeface="Cambria"/>
              <a:buNone/>
            </a:pPr>
            <a:r>
              <a:rPr b="1" i="1" lang="en-US" sz="28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How much of the division we measure</a:t>
            </a:r>
            <a:endParaRPr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800"/>
              <a:buFont typeface="Cambria"/>
              <a:buNone/>
            </a:pPr>
            <a:r>
              <a:rPr b="1" i="1" lang="en-US" sz="28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is produced by the measuring stick?</a:t>
            </a:r>
            <a:endParaRPr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Every Policy Makes Two Kinds of Mistakes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35" name="Google Shape;35;p5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{9187EFB1-B494-4161-9B43-576D56DC5157}</a:tableStyleId>
              </a:tblPr>
              <a:tblGrid>
                <a:gridCol w="2377450"/>
                <a:gridCol w="4343400"/>
                <a:gridCol w="43434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Policy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Mistake 1: acting on the wrong person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Mistake 2: missing the right person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Criminal justice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Convicting an innocent person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Letting a guilty person go free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Immigration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Turning away someone who qualifies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Admitting someone who doesn't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Voting rules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Blocking an eligible voter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1F2A38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Counting an ineligible ballot</a:t>
                      </a:r>
                      <a:endParaRPr sz="1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" name="Google Shape;36;p5"/>
          <p:cNvSpPr/>
          <p:nvPr/>
        </p:nvSpPr>
        <p:spPr>
          <a:xfrm>
            <a:off x="548640" y="475488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900"/>
              <a:buFont typeface="Calibri"/>
              <a:buNone/>
            </a:pPr>
            <a:r>
              <a:rPr b="1" i="1" lang="en-US" sz="21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You cannot eliminate both. </a:t>
            </a:r>
            <a:r>
              <a:rPr i="1" lang="en-US" sz="21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Tighten the rules and mistake 2 shrinks while mistake 1 grows. Every policy position is — implicitly — a choice about which mistake you'd rather live with.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A Worked Example: The Airport Scanner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321040" y="1554480"/>
            <a:ext cx="3291840" cy="1554480"/>
          </a:xfrm>
          <a:prstGeom prst="roundRect">
            <a:avLst>
              <a:gd fmla="val 5882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503920" y="169164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Dial 1 — Skill </a:t>
            </a:r>
            <a:br>
              <a:rPr b="1"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d′ (sensitivity)</a:t>
            </a:r>
            <a:endParaRPr i="0" sz="1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350"/>
              <a:buFont typeface="Calibri"/>
              <a:buNone/>
            </a:pPr>
            <a:r>
              <a:rPr i="0" lang="en-US" sz="15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How well the scanner separates threats from harmless bags</a:t>
            </a:r>
            <a:endParaRPr i="0" sz="1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8321040" y="3291840"/>
            <a:ext cx="3291840" cy="1737360"/>
          </a:xfrm>
          <a:prstGeom prst="roundRect">
            <a:avLst>
              <a:gd fmla="val 5263" name="adj"/>
            </a:avLst>
          </a:prstGeom>
          <a:solidFill>
            <a:srgbClr val="F7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503920" y="342900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Dial 2 — Judgment</a:t>
            </a:r>
            <a:endParaRPr b="1" i="0" sz="1900" u="none" cap="none" strike="noStrike">
              <a:solidFill>
                <a:srgbClr val="1F2A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lang="en-US" sz="1900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c (criterion)</a:t>
            </a:r>
            <a:endParaRPr b="1" sz="1900">
              <a:solidFill>
                <a:srgbClr val="1F2A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350"/>
              <a:buFont typeface="Calibri"/>
              <a:buNone/>
            </a:pPr>
            <a:r>
              <a:rPr i="0" lang="en-US" sz="15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Where you set the alarm: strict or lenient. This one is a value choice.</a:t>
            </a:r>
            <a:endParaRPr i="0" sz="1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800"/>
              <a:buFont typeface="Calibri"/>
              <a:buNone/>
            </a:pPr>
            <a:r>
              <a:rPr i="1" lang="en-US" sz="20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Two machines can be equally good and still be set completely differently.</a:t>
            </a:r>
            <a:endParaRPr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talk/fig1_scanner.png" id="48" name="Google Shape;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7406642" cy="362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Turning the Dial Traces a Curve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6123225" y="1555100"/>
            <a:ext cx="5734200" cy="44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000"/>
              <a:buFont typeface="Calibri"/>
              <a:buNone/>
            </a:pPr>
            <a:r>
              <a:rPr b="1" i="0" lang="en-US" sz="2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One scanner, one skill level — a whole menu of settings.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Better skill pushes the whole curve up and left: fewer of both mistakes.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i="0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Where you sit on the curve is not a technical question. It is a statement about which mistake costs more.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600"/>
              <a:buFont typeface="Calibri"/>
              <a:buNone/>
            </a:pPr>
            <a:r>
              <a:rPr i="1" lang="en-US" sz="1800" u="none" cap="none" strike="noStrike">
                <a:solidFill>
                  <a:srgbClr val="C58A1A"/>
                </a:solidFill>
                <a:latin typeface="Georgia"/>
                <a:ea typeface="Georgia"/>
                <a:cs typeface="Georgia"/>
                <a:sym typeface="Georgia"/>
              </a:rPr>
              <a:t>“Better that ten guilty escape than one innocent suffer” — Blackstone was choosing a point on this curve in 1769.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talk/fig2_roc_explainer.png" id="56" name="Google Shape;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5120639" cy="512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One More Piece: Nobody Knows the True Error Rates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900"/>
              <a:buFont typeface="Calibri"/>
              <a:buNone/>
            </a:pPr>
            <a:r>
              <a:rPr i="0" lang="en-US" sz="20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How many convictions are wrongful? How many admitted applicants shouldn't have been? Nobody knows these numbers — including us.</a:t>
            </a:r>
            <a:endParaRPr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900"/>
              <a:buFont typeface="Calibri"/>
              <a:buNone/>
            </a:pPr>
            <a:r>
              <a:rPr b="1" i="0" lang="en-US" sz="20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People act on their beliefs about them. And beliefs can differ by party.</a:t>
            </a:r>
            <a:endParaRPr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1463040" y="3291840"/>
            <a:ext cx="9235440" cy="2103120"/>
          </a:xfrm>
          <a:prstGeom prst="roundRect">
            <a:avLst>
              <a:gd fmla="val 5217" name="adj"/>
            </a:avLst>
          </a:prstGeom>
          <a:solidFill>
            <a:srgbClr val="1F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737360" y="352044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are not measuring ground truth.</a:t>
            </a:r>
            <a:endParaRPr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are measuring perceptions of ground truth —</a:t>
            </a:r>
            <a:endParaRPr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that is one distinct place partisans can divide.</a:t>
            </a:r>
            <a:endParaRPr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500"/>
              <a:buFont typeface="Calibri"/>
              <a:buNone/>
            </a:pPr>
            <a:r>
              <a:rPr i="1" lang="en-US" sz="1700" u="none" cap="none" strike="noStrike">
                <a:solidFill>
                  <a:srgbClr val="8A94A0"/>
                </a:solidFill>
                <a:latin typeface="Georgia"/>
                <a:ea typeface="Georgia"/>
                <a:cs typeface="Georgia"/>
                <a:sym typeface="Georgia"/>
              </a:rPr>
              <a:t>Example from our data: the median Democrat believes 230 of 1,000 qualified immigration applicants are wrongly turned away; the median Republican believes 160.</a:t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What We Did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000"/>
              <a:buFont typeface="Calibri"/>
              <a:buNone/>
            </a:pPr>
            <a:r>
              <a:rPr b="1" i="0" lang="en-US" sz="21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649 attentive U.S. adults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500"/>
              <a:buFont typeface="Calibri"/>
              <a:buNone/>
            </a:pPr>
            <a:r>
              <a:rPr i="0" lang="en-US" sz="1600" u="none" cap="none" strike="noStrike">
                <a:solidFill>
                  <a:srgbClr val="8A94A0"/>
                </a:solidFill>
                <a:latin typeface="Georgia"/>
                <a:ea typeface="Georgia"/>
                <a:cs typeface="Georgia"/>
                <a:sym typeface="Georgia"/>
              </a:rPr>
              <a:t>recruited via Prolific (343 D / 227 R / 79 I)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000"/>
              <a:buFont typeface="Calibri"/>
              <a:buNone/>
            </a:pPr>
            <a:r>
              <a:rPr b="1" i="0" lang="en-US" sz="21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9 policy topics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500"/>
              <a:buFont typeface="Calibri"/>
              <a:buNone/>
            </a:pPr>
            <a:r>
              <a:rPr i="0" lang="en-US" sz="1600" u="none" cap="none" strike="noStrike">
                <a:solidFill>
                  <a:srgbClr val="8A94A0"/>
                </a:solidFill>
                <a:latin typeface="Georgia"/>
                <a:ea typeface="Georgia"/>
                <a:cs typeface="Georgia"/>
                <a:sym typeface="Georgia"/>
              </a:rPr>
              <a:t>6 political (immigration, criminal justice, voter ID, welfare, firearms, armed conflict) + 3 comparison topics (disease testing, airport security, self-driving cars)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000"/>
              <a:buFont typeface="Calibri"/>
              <a:buNone/>
            </a:pPr>
            <a:r>
              <a:rPr b="1" i="0" lang="en-US" sz="21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Question order randomized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500"/>
              <a:buFont typeface="Calibri"/>
              <a:buNone/>
            </a:pPr>
            <a:r>
              <a:rPr i="0" lang="en-US" sz="1600" u="none" cap="none" strike="noStrike">
                <a:solidFill>
                  <a:srgbClr val="8A94A0"/>
                </a:solidFill>
                <a:latin typeface="Georgia"/>
                <a:ea typeface="Georgia"/>
                <a:cs typeface="Georgia"/>
                <a:sym typeface="Georgia"/>
              </a:rPr>
              <a:t>so we can test whether the exercise itself changes answers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6035040" y="1554480"/>
            <a:ext cx="5669280" cy="1417320"/>
          </a:xfrm>
          <a:prstGeom prst="roundRect">
            <a:avLst>
              <a:gd fmla="val 6452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6263640" y="1664208"/>
            <a:ext cx="5212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550"/>
              <a:buFont typeface="Calibri"/>
              <a:buNone/>
            </a:pPr>
            <a:r>
              <a:rPr b="1" i="0" lang="en-US" sz="16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1 · What do you believe is happening?</a:t>
            </a:r>
            <a:endParaRPr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“Of 1,000 innocent defendants, how many get wrongly convicted?”  → recovers both dials: perceived skill + perceived setting</a:t>
            </a:r>
            <a:endParaRPr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6035040" y="3154680"/>
            <a:ext cx="5669280" cy="1417320"/>
          </a:xfrm>
          <a:prstGeom prst="roundRect">
            <a:avLst>
              <a:gd fmla="val 6452" name="adj"/>
            </a:avLst>
          </a:prstGeom>
          <a:solidFill>
            <a:srgbClr val="F7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6263640" y="3264408"/>
            <a:ext cx="5212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550"/>
              <a:buFont typeface="Calibri"/>
              <a:buNone/>
            </a:pPr>
            <a:r>
              <a:rPr b="1" i="0" lang="en-US" sz="16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2 · Which mistake is worse — and by how much?</a:t>
            </a:r>
            <a:endParaRPr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“It is acceptable for ___ guilty people to go free so that 1 innocent person is not convicted.”  → their preferred trade-off</a:t>
            </a:r>
            <a:endParaRPr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6035040" y="4754880"/>
            <a:ext cx="5669280" cy="1417320"/>
          </a:xfrm>
          <a:prstGeom prst="roundRect">
            <a:avLst>
              <a:gd fmla="val 6452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6263640" y="4864608"/>
            <a:ext cx="5212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550"/>
              <a:buFont typeface="Calibri"/>
              <a:buNone/>
            </a:pPr>
            <a:r>
              <a:rPr b="1" i="0" lang="en-US" sz="16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3 · Standard survey question</a:t>
            </a:r>
            <a:endParaRPr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250"/>
              <a:buFont typeface="Calibri"/>
              <a:buNone/>
            </a:pPr>
            <a:r>
              <a:rPr i="0" lang="en-US" sz="13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Ordinary agree–disagree policy items, the kind every poll uses  → the compound measure</a:t>
            </a:r>
            <a:endParaRPr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Finding 1 — Preferences Track Both Beliefs and Values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731520" y="1645920"/>
            <a:ext cx="5212080" cy="2834640"/>
          </a:xfrm>
          <a:prstGeom prst="roundRect">
            <a:avLst>
              <a:gd fmla="val 3871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1005840" y="1874520"/>
            <a:ext cx="4663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Beliefs matter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People who believe error rates are higher hold measurably different policy positions.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8A94A0"/>
                </a:solidFill>
                <a:latin typeface="Georgia"/>
                <a:ea typeface="Georgia"/>
                <a:cs typeface="Georgia"/>
                <a:sym typeface="Georgia"/>
              </a:rPr>
              <a:t>β = −0.19, p &lt; .001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6309360" y="1645920"/>
            <a:ext cx="5212080" cy="2834640"/>
          </a:xfrm>
          <a:prstGeom prst="roundRect">
            <a:avLst>
              <a:gd fmla="val 3871" name="adj"/>
            </a:avLst>
          </a:prstGeom>
          <a:solidFill>
            <a:srgbClr val="F7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6583680" y="1874520"/>
            <a:ext cx="4663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Values matter too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People's stated mistake trade-offs predict their positions — even after accounting for their beliefs.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8A94A0"/>
                </a:solidFill>
                <a:latin typeface="Georgia"/>
                <a:ea typeface="Georgia"/>
                <a:cs typeface="Georgia"/>
                <a:sym typeface="Georgia"/>
              </a:rPr>
              <a:t>β = 0.04, p = .010</a:t>
            </a:r>
            <a:endParaRPr i="0" sz="2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31520" y="484632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900"/>
              <a:buFont typeface="Calibri"/>
              <a:buNone/>
            </a:pPr>
            <a:r>
              <a:rPr i="1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Policy preferences are not team jerseys all the way down. They contain real cognitive ingredients that can be measured separately.</a:t>
            </a:r>
            <a:endParaRPr i="0" sz="1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Finding 2 — Ask About Trade-offs, and Disagreement Shrinks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 partisan gap in trade-off answers is </a:t>
            </a:r>
            <a:r>
              <a:rPr b="1" i="0" lang="en-US" sz="2000" u="none" cap="none" strike="noStrike">
                <a:solidFill>
                  <a:srgbClr val="C58A1A"/>
                </a:solidFill>
                <a:latin typeface="Georgia"/>
                <a:ea typeface="Georgia"/>
                <a:cs typeface="Georgia"/>
                <a:sym typeface="Georgia"/>
              </a:rPr>
              <a:t>0.55 standard deviations smaller</a:t>
            </a:r>
            <a:r>
              <a:rPr i="0" lang="en-US" sz="20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 than the gap in standard survey answers (p &lt; .0001).</a:t>
            </a:r>
            <a:endParaRPr i="0" sz="2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talk/fig3_h3_schematic.png"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63040"/>
            <a:ext cx="10515598" cy="3995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Finding 3 — But the Exercise Doesn't Change Minds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7040880" y="1828800"/>
            <a:ext cx="46634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We randomized question order.</a:t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650"/>
              <a:buFont typeface="Calibri"/>
              <a:buNone/>
            </a:pPr>
            <a:r>
              <a:rPr i="0" lang="en-US" sz="16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If articulating trade-offs de-polarized people, those who did it first should show smaller gaps on the standard questions.</a:t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650"/>
              <a:buFont typeface="Calibri"/>
              <a:buNone/>
            </a:pPr>
            <a:r>
              <a:rPr i="0" lang="en-US" sz="16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They don't. (A promising pilot effect did not replicate.)</a:t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650"/>
              <a:buFont typeface="Calibri"/>
              <a:buNone/>
            </a:pPr>
            <a:r>
              <a:rPr i="1" lang="en-US" sz="1650" u="none" cap="none" strike="noStrike">
                <a:solidFill>
                  <a:srgbClr val="C58A1A"/>
                </a:solidFill>
                <a:latin typeface="Georgia"/>
                <a:ea typeface="Georgia"/>
                <a:cs typeface="Georgia"/>
                <a:sym typeface="Georgia"/>
              </a:rPr>
              <a:t>The hidden agreement is real — but experiencing it once does not transfer to how people answer the familiar question.</a:t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talk/fig4_h4_gaps.png" id="107" name="Google Shape;1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6126479" cy="4023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Finding 4 — “Polarization” Is Not One Thing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098280" y="1645920"/>
            <a:ext cx="2743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Voter ID:</a:t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parties differ in perceived skill AND setting</a:t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Immigration:</a:t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different beliefs about what's happening</a:t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Firearms:</a:t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thresholds differ in the opposite direction — Democrats set the stricter bar</a:t>
            </a:r>
            <a:endParaRPr i="0" sz="14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900"/>
              <a:buFont typeface="Calibri"/>
              <a:buNone/>
            </a:pPr>
            <a:r>
              <a:rPr i="1" lang="en-US" sz="19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Same word, three different disagreements — each pointing to a different kind of fix.</a:t>
            </a:r>
            <a:endParaRPr i="0" sz="19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home/claude/talk/fig5_delta_c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8229600" cy="362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A New Lens: Where People Think We Are vs. Where They Want to Be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3" name="Google Shape;12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3225"/>
            <a:ext cx="7620000" cy="530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>
            <a:off x="8123200" y="2467850"/>
            <a:ext cx="39180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i="0" lang="en-US" sz="17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 belief questions tell us where people think the system currently operates.</a:t>
            </a:r>
            <a:endParaRPr i="0" sz="1700" u="none" cap="none" strike="noStrike">
              <a:solidFill>
                <a:srgbClr val="1F2A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rgbClr val="1F2A3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i="0" lang="en-US" sz="17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 trade-off questions tell us where they want it to operate.</a:t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 gap between the two is each side's implied reform demand — its direction and its size.</a:t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What This Means</a:t>
            </a:r>
            <a:endParaRPr i="0" sz="3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40080" y="1463040"/>
            <a:ext cx="10972800" cy="1481328"/>
          </a:xfrm>
          <a:prstGeom prst="roundRect">
            <a:avLst>
              <a:gd fmla="val 6173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14400" y="1591056"/>
            <a:ext cx="2834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If you run surveys</a:t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840480" y="1591056"/>
            <a:ext cx="7498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The standard policy item is a compound measure — beliefs, values, and identity in one number. Report it as such, or unbundle it: the trade-off format is one working unbundling tool.</a:t>
            </a:r>
            <a:endParaRPr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40080" y="3154680"/>
            <a:ext cx="10972800" cy="1481328"/>
          </a:xfrm>
          <a:prstGeom prst="roundRect">
            <a:avLst>
              <a:gd fmla="val 6173" name="adj"/>
            </a:avLst>
          </a:prstGeom>
          <a:solidFill>
            <a:srgbClr val="F7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914400" y="3282696"/>
            <a:ext cx="2834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If you work on depolarization</a:t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840480" y="3282696"/>
            <a:ext cx="7498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Target the right ingredient per topic. Immigration divides on beliefs — facts might help. Firearms divides on values — facts won't. One-size-fits-all interventions aim at an average that describes no topic.</a:t>
            </a:r>
            <a:endParaRPr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40080" y="4846320"/>
            <a:ext cx="10972800" cy="1481328"/>
          </a:xfrm>
          <a:prstGeom prst="roundRect">
            <a:avLst>
              <a:gd fmla="val 6173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914400" y="4974336"/>
            <a:ext cx="2834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If you build decision systems</a:t>
            </a:r>
            <a:endParaRPr i="0" sz="17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840480" y="4974336"/>
            <a:ext cx="7498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1F2A38"/>
                </a:solidFill>
                <a:latin typeface="Georgia"/>
                <a:ea typeface="Georgia"/>
                <a:cs typeface="Georgia"/>
                <a:sym typeface="Georgia"/>
              </a:rPr>
              <a:t>Error trade-offs are elicitable from ordinary people in plain language. That is the interface algorithmic policy needs: thresholds humans can state and machines can implement.</a:t>
            </a:r>
            <a:endParaRPr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3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i="0" sz="4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100"/>
              <a:buFont typeface="Calibri"/>
              <a:buNone/>
            </a:pPr>
            <a:r>
              <a:rPr i="1" lang="en-US" sz="21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The apparent unity of polarization may itself be a measurement artifact.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Eleveny (Shiyi) Chen · syechen@ucdavis.edu</a:t>
            </a:r>
            <a:endParaRPr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B8C4D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Harry Yan · Daniel (D.J.) Flynn · Seth Frey</a:t>
            </a:r>
            <a:endParaRPr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B8C4D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B8C4D0"/>
                </a:solidFill>
                <a:latin typeface="Georgia"/>
                <a:ea typeface="Georgia"/>
                <a:cs typeface="Georgia"/>
                <a:sym typeface="Georgia"/>
              </a:rPr>
              <a:t>Paper, data, and analysis notebooks available on request</a:t>
            </a:r>
            <a:endParaRPr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06188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42097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625"/>
            <a:ext cx="11887203" cy="440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7425"/>
            <a:ext cx="11887201" cy="3703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